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71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670609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57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2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5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0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3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7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5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5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6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94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0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00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63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93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2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73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pp.sbiz-app.my.id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dendie851/sbiz-php/tree/main/screenshoo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dendie851/sbiz-reseller/tree/main/screenshoo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SBiZ</a:t>
            </a:r>
            <a:r>
              <a:rPr lang="en-US" b="1" dirty="0"/>
              <a:t> Application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Satu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Terintegrasi</a:t>
            </a:r>
            <a:r>
              <a:rPr lang="en-US" b="1" dirty="0"/>
              <a:t>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Memangkas</a:t>
            </a:r>
            <a:r>
              <a:rPr lang="en-US" b="1" dirty="0"/>
              <a:t> </a:t>
            </a:r>
            <a:r>
              <a:rPr lang="en-US" b="1" dirty="0" err="1"/>
              <a:t>Operasional</a:t>
            </a:r>
            <a:r>
              <a:rPr lang="en-US" b="1" dirty="0"/>
              <a:t> Manual &amp; </a:t>
            </a:r>
            <a:r>
              <a:rPr lang="en-US" b="1" dirty="0" err="1"/>
              <a:t>Meningkatkan</a:t>
            </a:r>
            <a:r>
              <a:rPr lang="en-US" b="1" dirty="0"/>
              <a:t> Profit Usaha Anda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803754"/>
          </a:xfrm>
        </p:spPr>
        <p:txBody>
          <a:bodyPr>
            <a:noAutofit/>
          </a:bodyPr>
          <a:lstStyle/>
          <a:p>
            <a:r>
              <a:rPr lang="en-US" sz="3200" b="1" dirty="0" err="1"/>
              <a:t>Realitas</a:t>
            </a:r>
            <a:r>
              <a:rPr lang="en-US" sz="3200" b="1" dirty="0"/>
              <a:t> &amp; </a:t>
            </a:r>
            <a:r>
              <a:rPr lang="en-US" sz="3200" b="1" dirty="0" err="1"/>
              <a:t>Masalah</a:t>
            </a:r>
            <a:r>
              <a:rPr lang="en-US" sz="3200" b="1" dirty="0"/>
              <a:t> Usaha(The Pain Points)</a:t>
            </a:r>
            <a:endParaRPr sz="2800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18A86BA-4D91-6897-C959-AC67D6319F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8387600"/>
              </p:ext>
            </p:extLst>
          </p:nvPr>
        </p:nvGraphicFramePr>
        <p:xfrm>
          <a:off x="1026544" y="1365120"/>
          <a:ext cx="7704667" cy="4400550"/>
        </p:xfrm>
        <a:graphic>
          <a:graphicData uri="http://schemas.openxmlformats.org/drawingml/2006/table">
            <a:tbl>
              <a:tblPr/>
              <a:tblGrid>
                <a:gridCol w="2308931">
                  <a:extLst>
                    <a:ext uri="{9D8B030D-6E8A-4147-A177-3AD203B41FA5}">
                      <a16:colId xmlns:a16="http://schemas.microsoft.com/office/drawing/2014/main" val="3515592083"/>
                    </a:ext>
                  </a:extLst>
                </a:gridCol>
                <a:gridCol w="5395736">
                  <a:extLst>
                    <a:ext uri="{9D8B030D-6E8A-4147-A177-3AD203B41FA5}">
                      <a16:colId xmlns:a16="http://schemas.microsoft.com/office/drawing/2014/main" val="4124078165"/>
                    </a:ext>
                  </a:extLst>
                </a:gridCol>
              </a:tblGrid>
              <a:tr h="568250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Bidang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Operasional</a:t>
                      </a:r>
                      <a:endParaRPr lang="en-US" sz="2400" dirty="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Masalah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yang Sering </a:t>
                      </a: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Terjadi</a:t>
                      </a: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di </a:t>
                      </a: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Lapangan</a:t>
                      </a:r>
                      <a:endParaRPr lang="en-US" sz="2400" dirty="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63785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Manajemen</a:t>
                      </a:r>
                      <a:r>
                        <a:rPr lang="en-US" sz="16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Stok</a:t>
                      </a:r>
                      <a:endParaRPr lang="en-US" sz="2400" dirty="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Stok tidak real-time, sering selisih antara catatan dan fisik gudang, serta penanganan varian/bundling yang rumit.</a:t>
                      </a:r>
                      <a:endParaRPr lang="en-US" sz="240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744729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Pengolahan Pesanan</a:t>
                      </a:r>
                      <a:endParaRPr lang="en-US" sz="240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Proses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pengemasan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ekspedisi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dan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validasi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pembayaran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(Transfer/COD)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masih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manual dan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rentan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kesalahan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(*human error*).</a:t>
                      </a:r>
                      <a:endParaRPr lang="en-US" sz="2400" dirty="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796202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Jaringan Reseller</a:t>
                      </a:r>
                      <a:endParaRPr lang="en-US" sz="240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sv-SE" sz="16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Tidak ada sistem khusus untuk mengelola harga reseller, komisi, poin, dan pesanan *dropship* secara otomatis.</a:t>
                      </a:r>
                      <a:endParaRPr lang="sv-SE" sz="240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596183"/>
                  </a:ext>
                </a:extLst>
              </a:tr>
              <a:tr h="923636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6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Laporan Keuangan</a:t>
                      </a:r>
                      <a:endParaRPr lang="en-US" sz="240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nn-NO" sz="16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Laba rugi, omzet, dan laporan per transaksi tidak akurat serta membutuhkan waktu lama untuk direkap.</a:t>
                      </a:r>
                      <a:endParaRPr lang="nn-NO" sz="2400" dirty="0">
                        <a:effectLst/>
                      </a:endParaRPr>
                    </a:p>
                  </a:txBody>
                  <a:tcPr marL="130497" marR="130497" marT="130497" marB="130497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6128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Solusi </a:t>
            </a:r>
            <a:r>
              <a:rPr lang="en-US" b="1" dirty="0" err="1"/>
              <a:t>Terpadu</a:t>
            </a:r>
            <a:r>
              <a:rPr lang="en-US" b="1" dirty="0"/>
              <a:t> </a:t>
            </a:r>
            <a:r>
              <a:rPr lang="en-US" b="1" dirty="0" err="1"/>
              <a:t>SBiZ</a:t>
            </a:r>
            <a:r>
              <a:rPr lang="en-US" b="1" dirty="0"/>
              <a:t> Application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92086"/>
            <a:ext cx="7704667" cy="3332816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b="1" dirty="0" err="1"/>
              <a:t>Kontrol</a:t>
            </a:r>
            <a:r>
              <a:rPr lang="en-US" b="1" dirty="0"/>
              <a:t> Stok </a:t>
            </a:r>
            <a:r>
              <a:rPr lang="en-US" b="1" dirty="0" err="1"/>
              <a:t>Akurat</a:t>
            </a:r>
            <a:r>
              <a:rPr lang="en-US" b="1" dirty="0"/>
              <a:t>:</a:t>
            </a:r>
            <a:r>
              <a:rPr lang="en-US" dirty="0"/>
              <a:t> Kartu </a:t>
            </a:r>
            <a:r>
              <a:rPr lang="en-US" dirty="0" err="1"/>
              <a:t>stok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, </a:t>
            </a:r>
            <a:r>
              <a:rPr lang="en-US" dirty="0" err="1"/>
              <a:t>penanganan</a:t>
            </a:r>
            <a:r>
              <a:rPr lang="en-US" dirty="0"/>
              <a:t> </a:t>
            </a:r>
            <a:r>
              <a:rPr lang="en-US" dirty="0" err="1"/>
              <a:t>varian</a:t>
            </a:r>
            <a:r>
              <a:rPr lang="en-US" dirty="0"/>
              <a:t>,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*bundling* &amp; *pre-order*.</a:t>
            </a:r>
          </a:p>
          <a:p>
            <a:pPr fontAlgn="base"/>
            <a:r>
              <a:rPr lang="en-US" b="1" dirty="0" err="1"/>
              <a:t>Otomasi</a:t>
            </a:r>
            <a:r>
              <a:rPr lang="en-US" b="1" dirty="0"/>
              <a:t> </a:t>
            </a:r>
            <a:r>
              <a:rPr lang="en-US" b="1" dirty="0" err="1"/>
              <a:t>Penjualan</a:t>
            </a:r>
            <a:r>
              <a:rPr lang="en-US" b="1" dirty="0"/>
              <a:t> &amp; </a:t>
            </a:r>
            <a:r>
              <a:rPr lang="en-US" b="1" dirty="0" err="1"/>
              <a:t>Pembayaran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</a:t>
            </a:r>
            <a:r>
              <a:rPr lang="en-US" dirty="0" err="1"/>
              <a:t>otomatis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transfer, COD,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integrasi</a:t>
            </a:r>
            <a:r>
              <a:rPr lang="en-US" dirty="0"/>
              <a:t> </a:t>
            </a:r>
            <a:r>
              <a:rPr lang="en-US" dirty="0" err="1"/>
              <a:t>resi</a:t>
            </a:r>
            <a:r>
              <a:rPr lang="en-US" dirty="0"/>
              <a:t> </a:t>
            </a:r>
            <a:r>
              <a:rPr lang="en-US" dirty="0" err="1"/>
              <a:t>ekspedisi</a:t>
            </a:r>
            <a:r>
              <a:rPr lang="en-US" dirty="0"/>
              <a:t>.</a:t>
            </a:r>
          </a:p>
          <a:p>
            <a:pPr fontAlgn="base"/>
            <a:r>
              <a:rPr lang="en-US" b="1" dirty="0"/>
              <a:t>Portal Reseller </a:t>
            </a:r>
            <a:r>
              <a:rPr lang="en-US" b="1" dirty="0" err="1"/>
              <a:t>Mandiri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reseller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harga</a:t>
            </a:r>
            <a:r>
              <a:rPr lang="en-US" dirty="0"/>
              <a:t> </a:t>
            </a:r>
            <a:r>
              <a:rPr lang="en-US" dirty="0" err="1"/>
              <a:t>bertingkat</a:t>
            </a:r>
            <a:r>
              <a:rPr lang="en-US" dirty="0"/>
              <a:t>,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komisi</a:t>
            </a:r>
            <a:r>
              <a:rPr lang="en-US" dirty="0"/>
              <a:t>, dan </a:t>
            </a:r>
            <a:r>
              <a:rPr lang="en-US" dirty="0" err="1"/>
              <a:t>akumulasi</a:t>
            </a:r>
            <a:r>
              <a:rPr lang="en-US" dirty="0"/>
              <a:t> </a:t>
            </a:r>
            <a:r>
              <a:rPr lang="en-US" dirty="0" err="1"/>
              <a:t>poin</a:t>
            </a:r>
            <a:r>
              <a:rPr lang="en-US" dirty="0"/>
              <a:t>.</a:t>
            </a:r>
          </a:p>
          <a:p>
            <a:pPr fontAlgn="base"/>
            <a:r>
              <a:rPr lang="en-US" b="1" dirty="0" err="1"/>
              <a:t>Laporan</a:t>
            </a:r>
            <a:r>
              <a:rPr lang="en-US" b="1" dirty="0"/>
              <a:t> </a:t>
            </a:r>
            <a:r>
              <a:rPr lang="en-US" b="1" dirty="0" err="1"/>
              <a:t>Instan</a:t>
            </a:r>
            <a:r>
              <a:rPr lang="en-US" b="1" dirty="0"/>
              <a:t> Real-Time:</a:t>
            </a:r>
            <a:r>
              <a:rPr lang="en-US" dirty="0"/>
              <a:t> </a:t>
            </a:r>
            <a:r>
              <a:rPr lang="en-US" dirty="0" err="1"/>
              <a:t>Pantau</a:t>
            </a:r>
            <a:r>
              <a:rPr lang="en-US" dirty="0"/>
              <a:t> </a:t>
            </a:r>
            <a:r>
              <a:rPr lang="en-US" dirty="0" err="1"/>
              <a:t>omzet</a:t>
            </a:r>
            <a:r>
              <a:rPr lang="en-US" dirty="0"/>
              <a:t>, </a:t>
            </a:r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iklan</a:t>
            </a:r>
            <a:r>
              <a:rPr lang="en-US" dirty="0"/>
              <a:t> (ROAS),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laba</a:t>
            </a:r>
            <a:r>
              <a:rPr lang="en-US" dirty="0"/>
              <a:t> </a:t>
            </a:r>
            <a:r>
              <a:rPr lang="en-US" dirty="0" err="1"/>
              <a:t>bersih</a:t>
            </a:r>
            <a:r>
              <a:rPr lang="en-US" dirty="0"/>
              <a:t> </a:t>
            </a:r>
            <a:r>
              <a:rPr lang="en-US" dirty="0" err="1"/>
              <a:t>kapan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mana </a:t>
            </a:r>
            <a:r>
              <a:rPr lang="en-US" dirty="0" err="1"/>
              <a:t>saja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Ekosistem</a:t>
            </a:r>
            <a:r>
              <a:rPr lang="en-US" b="1" dirty="0"/>
              <a:t> Fitur </a:t>
            </a:r>
            <a:r>
              <a:rPr lang="en-US" b="1" dirty="0" err="1"/>
              <a:t>Unggulan</a:t>
            </a:r>
            <a:r>
              <a:rPr lang="en-US" b="1" dirty="0"/>
              <a:t> </a:t>
            </a:r>
            <a:r>
              <a:rPr lang="en-US" b="1" dirty="0" err="1"/>
              <a:t>SBiZ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020EDE1-69E4-8274-1117-A12C47647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31035"/>
              </p:ext>
            </p:extLst>
          </p:nvPr>
        </p:nvGraphicFramePr>
        <p:xfrm>
          <a:off x="1517899" y="2054735"/>
          <a:ext cx="6643968" cy="3410316"/>
        </p:xfrm>
        <a:graphic>
          <a:graphicData uri="http://schemas.openxmlformats.org/drawingml/2006/table">
            <a:tbl>
              <a:tblPr/>
              <a:tblGrid>
                <a:gridCol w="2009072">
                  <a:extLst>
                    <a:ext uri="{9D8B030D-6E8A-4147-A177-3AD203B41FA5}">
                      <a16:colId xmlns:a16="http://schemas.microsoft.com/office/drawing/2014/main" val="8899574"/>
                    </a:ext>
                  </a:extLst>
                </a:gridCol>
                <a:gridCol w="4634896">
                  <a:extLst>
                    <a:ext uri="{9D8B030D-6E8A-4147-A177-3AD203B41FA5}">
                      <a16:colId xmlns:a16="http://schemas.microsoft.com/office/drawing/2014/main" val="1700626846"/>
                    </a:ext>
                  </a:extLst>
                </a:gridCol>
              </a:tblGrid>
              <a:tr h="223731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Modul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Fitur Utama &amp; Fungsi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23607"/>
                  </a:ext>
                </a:extLst>
              </a:tr>
              <a:tr h="642631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Dashboard &amp; Analytics</a:t>
                      </a:r>
                      <a:endParaRPr lang="en-US" sz="2400" dirty="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sv-SE" sz="12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Ringkasan omzet harian, grafik transaksi real-time, dan pemantauan status pesanan (Belum Dikemas / Belum Bayar).</a:t>
                      </a:r>
                      <a:endParaRPr lang="sv-SE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205466"/>
                  </a:ext>
                </a:extLst>
              </a:tr>
              <a:tr h="642631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Manajemen Penjualan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Modul SO, integrasi marketplace, cetak faktur, pelacakan resi pengiriman, serta pengelolaan Pre-Order.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31834"/>
                  </a:ext>
                </a:extLst>
              </a:tr>
              <a:tr h="537906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Sistem Reseller &amp; Area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Dashboard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khusus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reseller,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komisi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otomatis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katalog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produk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dan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sistem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dropship yang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aman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n-US" sz="2400" dirty="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390014"/>
                  </a:ext>
                </a:extLst>
              </a:tr>
              <a:tr h="642631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Inovasi Penjualan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Fitur Paket Bundling (gabung produk hemat) untuk menghabiskan stok lama dan meningkatkan nilai transaksi (AOV).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58877"/>
                  </a:ext>
                </a:extLst>
              </a:tr>
              <a:tr h="642631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1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Keuangan &amp; Laporan</a:t>
                      </a:r>
                      <a:endParaRPr lang="en-US" sz="240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Laporan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pendapatan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per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transaksi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laporan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komisi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sales/reseller,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perhitungan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ROAS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Iklan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dan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ekspor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data </a:t>
                      </a:r>
                      <a:r>
                        <a:rPr lang="en-US" sz="12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ke</a:t>
                      </a:r>
                      <a:r>
                        <a:rPr lang="en-US" sz="12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Excel.</a:t>
                      </a:r>
                      <a:endParaRPr lang="en-US" sz="2400" dirty="0">
                        <a:effectLst/>
                      </a:endParaRPr>
                    </a:p>
                  </a:txBody>
                  <a:tcPr marL="59503" marR="59503" marT="59503" marB="59503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063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47056"/>
          </a:xfrm>
        </p:spPr>
        <p:txBody>
          <a:bodyPr>
            <a:noAutofit/>
          </a:bodyPr>
          <a:lstStyle/>
          <a:p>
            <a:r>
              <a:rPr lang="fi-FI" sz="2800" b="1" dirty="0"/>
              <a:t>Tampilan Antarmuka &amp; Kemudahan Penggunaan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8F7DE-FFE2-FB6C-32D6-E9C90439F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640" y="1427189"/>
            <a:ext cx="4407864" cy="4522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E8F069-A714-39BD-D78C-746AC758B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29" y="1415723"/>
            <a:ext cx="2765250" cy="4533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18456"/>
          </a:xfrm>
        </p:spPr>
        <p:txBody>
          <a:bodyPr>
            <a:noAutofit/>
          </a:bodyPr>
          <a:lstStyle/>
          <a:p>
            <a:r>
              <a:rPr lang="fi-FI" sz="2400" b="1" dirty="0"/>
              <a:t>Tampilan Antarmuka &amp; Kemudahan Penggunaan</a:t>
            </a:r>
            <a:endParaRPr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3D8605-5F1B-D992-4BF8-336C4A7C1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133" y="1404258"/>
            <a:ext cx="3300537" cy="273231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CFF05-76AB-498E-EA15-297F31FAB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828" y="1317172"/>
            <a:ext cx="4376057" cy="4511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262742"/>
          </a:xfrm>
        </p:spPr>
        <p:txBody>
          <a:bodyPr>
            <a:normAutofit/>
          </a:bodyPr>
          <a:lstStyle/>
          <a:p>
            <a:r>
              <a:rPr lang="sv-SE" sz="3200" b="1" dirty="0"/>
              <a:t>Area Reseller </a:t>
            </a:r>
            <a:br>
              <a:rPr lang="sv-SE" sz="3200" b="1" dirty="0"/>
            </a:br>
            <a:r>
              <a:rPr lang="sv-SE" sz="3200" b="1" dirty="0"/>
              <a:t>Perluas Jangkauan Penjualan Tanpa Batas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024744"/>
            <a:ext cx="7704667" cy="333281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Tingkatkan</a:t>
            </a:r>
            <a:r>
              <a:rPr lang="en-US" dirty="0"/>
              <a:t> </a:t>
            </a:r>
            <a:r>
              <a:rPr lang="en-US" dirty="0" err="1"/>
              <a:t>omzet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memberdayakan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reseller </a:t>
            </a:r>
            <a:r>
              <a:rPr lang="en-US" dirty="0" err="1"/>
              <a:t>melalui</a:t>
            </a:r>
            <a:r>
              <a:rPr lang="en-US" dirty="0"/>
              <a:t> portal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SBiZ</a:t>
            </a:r>
            <a:r>
              <a:rPr lang="en-US" dirty="0"/>
              <a:t>:</a:t>
            </a:r>
          </a:p>
          <a:p>
            <a:pPr fontAlgn="base"/>
            <a:r>
              <a:rPr lang="en-US" b="1" dirty="0"/>
              <a:t>Portal Login </a:t>
            </a:r>
            <a:r>
              <a:rPr lang="en-US" b="1" dirty="0" err="1"/>
              <a:t>Khusus</a:t>
            </a:r>
            <a:r>
              <a:rPr lang="en-US" b="1" dirty="0"/>
              <a:t>:</a:t>
            </a:r>
            <a:r>
              <a:rPr lang="en-US" dirty="0"/>
              <a:t> Reseller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akun</a:t>
            </a:r>
            <a:r>
              <a:rPr lang="en-US" dirty="0"/>
              <a:t> </a:t>
            </a:r>
            <a:r>
              <a:rPr lang="en-US" dirty="0" err="1"/>
              <a:t>mandiri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cek</a:t>
            </a:r>
            <a:r>
              <a:rPr lang="en-US" dirty="0"/>
              <a:t> </a:t>
            </a:r>
            <a:r>
              <a:rPr lang="en-US" dirty="0" err="1"/>
              <a:t>stok</a:t>
            </a:r>
            <a:r>
              <a:rPr lang="en-US" dirty="0"/>
              <a:t> dan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pemesanan</a:t>
            </a:r>
            <a:r>
              <a:rPr lang="en-US" dirty="0"/>
              <a:t>.</a:t>
            </a:r>
          </a:p>
          <a:p>
            <a:pPr fontAlgn="base"/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Komisi</a:t>
            </a:r>
            <a:r>
              <a:rPr lang="en-US" b="1" dirty="0"/>
              <a:t> &amp; </a:t>
            </a:r>
            <a:r>
              <a:rPr lang="en-US" b="1" dirty="0" err="1"/>
              <a:t>Poin</a:t>
            </a:r>
            <a:r>
              <a:rPr lang="en-US" b="1" dirty="0"/>
              <a:t> </a:t>
            </a:r>
            <a:r>
              <a:rPr lang="en-US" b="1" dirty="0" err="1"/>
              <a:t>Otomatis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Komisi</a:t>
            </a:r>
            <a:r>
              <a:rPr lang="en-US" dirty="0"/>
              <a:t> </a:t>
            </a:r>
            <a:r>
              <a:rPr lang="en-US" dirty="0" err="1"/>
              <a:t>transparan</a:t>
            </a:r>
            <a:r>
              <a:rPr lang="en-US" dirty="0"/>
              <a:t> yang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terrekap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.</a:t>
            </a:r>
          </a:p>
          <a:p>
            <a:pPr fontAlgn="base"/>
            <a:r>
              <a:rPr lang="en-US" b="1" dirty="0" err="1"/>
              <a:t>Dukungan</a:t>
            </a:r>
            <a:r>
              <a:rPr lang="en-US" b="1" dirty="0"/>
              <a:t> Dropship:</a:t>
            </a:r>
            <a:r>
              <a:rPr lang="en-US" dirty="0"/>
              <a:t> Reseller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pembeli</a:t>
            </a:r>
            <a:r>
              <a:rPr lang="en-US" dirty="0"/>
              <a:t> </a:t>
            </a:r>
            <a:r>
              <a:rPr lang="en-US" dirty="0" err="1"/>
              <a:t>akhir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nama </a:t>
            </a:r>
            <a:r>
              <a:rPr lang="en-US" dirty="0" err="1"/>
              <a:t>toko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968828"/>
          </a:xfrm>
        </p:spPr>
        <p:txBody>
          <a:bodyPr>
            <a:normAutofit/>
          </a:bodyPr>
          <a:lstStyle/>
          <a:p>
            <a:r>
              <a:rPr lang="en-US" sz="2400" b="1" dirty="0"/>
              <a:t> </a:t>
            </a:r>
            <a:r>
              <a:rPr lang="en-US" sz="2400" b="1" dirty="0" err="1"/>
              <a:t>Mengapa</a:t>
            </a:r>
            <a:r>
              <a:rPr lang="en-US" sz="2400" b="1" dirty="0"/>
              <a:t> </a:t>
            </a:r>
            <a:r>
              <a:rPr lang="en-US" sz="2400" b="1" dirty="0" err="1"/>
              <a:t>Memilih</a:t>
            </a:r>
            <a:r>
              <a:rPr lang="en-US" sz="2400" b="1" dirty="0"/>
              <a:t> </a:t>
            </a:r>
            <a:r>
              <a:rPr lang="en-US" sz="2400" b="1" dirty="0" err="1"/>
              <a:t>SBiZ</a:t>
            </a:r>
            <a:r>
              <a:rPr lang="en-US" sz="2400" b="1" dirty="0"/>
              <a:t> </a:t>
            </a:r>
            <a:r>
              <a:rPr lang="en-US" sz="2400" b="1" dirty="0" err="1"/>
              <a:t>dibanding</a:t>
            </a:r>
            <a:r>
              <a:rPr lang="en-US" sz="2400" b="1" dirty="0"/>
              <a:t> </a:t>
            </a:r>
            <a:br>
              <a:rPr lang="en-US" sz="2400" b="1" dirty="0"/>
            </a:br>
            <a:r>
              <a:rPr lang="en-US" sz="2400" b="1" dirty="0"/>
              <a:t>Software Lain? (Daya Saing)</a:t>
            </a:r>
            <a:endParaRPr sz="1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AA79C8-214F-7CDF-1648-43CA9D093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475359"/>
              </p:ext>
            </p:extLst>
          </p:nvPr>
        </p:nvGraphicFramePr>
        <p:xfrm>
          <a:off x="1308690" y="1706617"/>
          <a:ext cx="7301910" cy="4898835"/>
        </p:xfrm>
        <a:graphic>
          <a:graphicData uri="http://schemas.openxmlformats.org/drawingml/2006/table">
            <a:tbl>
              <a:tblPr/>
              <a:tblGrid>
                <a:gridCol w="3230653">
                  <a:extLst>
                    <a:ext uri="{9D8B030D-6E8A-4147-A177-3AD203B41FA5}">
                      <a16:colId xmlns:a16="http://schemas.microsoft.com/office/drawing/2014/main" val="2106163040"/>
                    </a:ext>
                  </a:extLst>
                </a:gridCol>
                <a:gridCol w="4071257">
                  <a:extLst>
                    <a:ext uri="{9D8B030D-6E8A-4147-A177-3AD203B41FA5}">
                      <a16:colId xmlns:a16="http://schemas.microsoft.com/office/drawing/2014/main" val="2051096991"/>
                    </a:ext>
                  </a:extLst>
                </a:gridCol>
              </a:tblGrid>
              <a:tr h="510098"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Keunggulan SBiZ</a:t>
                      </a:r>
                      <a:endParaRPr lang="en-US" sz="180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fi-FI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Software SaaS Pasaran / Kategori Lain</a:t>
                      </a:r>
                      <a:endParaRPr lang="fi-FI" sz="180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704936"/>
                  </a:ext>
                </a:extLst>
              </a:tr>
              <a:tr h="97430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s-ES" sz="11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Private</a:t>
                      </a:r>
                      <a:r>
                        <a:rPr lang="es-E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Server / </a:t>
                      </a:r>
                      <a:r>
                        <a:rPr lang="es-ES" sz="11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Dedicated</a:t>
                      </a:r>
                      <a:endParaRPr lang="es-ES" sz="1800" dirty="0">
                        <a:effectLst/>
                      </a:endParaRPr>
                    </a:p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Data 100% aman dan </a:t>
                      </a:r>
                      <a:r>
                        <a:rPr lang="es-E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tidak</a:t>
                      </a:r>
                      <a:r>
                        <a:rPr lang="es-E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s-E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bercampur</a:t>
                      </a:r>
                      <a:r>
                        <a:rPr lang="es-E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s-E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dengan</a:t>
                      </a:r>
                      <a:r>
                        <a:rPr lang="es-E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s-E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perusahaan</a:t>
                      </a:r>
                      <a:r>
                        <a:rPr lang="es-E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s-E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lain</a:t>
                      </a:r>
                      <a:r>
                        <a:rPr lang="es-E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s-ES" sz="1800" dirty="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it-IT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Multi-tenant (data bergabung di server umum bersama ribuan pengguna lain).</a:t>
                      </a:r>
                      <a:endParaRPr lang="it-IT" sz="180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173978"/>
                  </a:ext>
                </a:extLst>
              </a:tr>
              <a:tr h="11381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Unlimited User &amp; </a:t>
                      </a:r>
                      <a:r>
                        <a:rPr lang="en-US" sz="11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Transaksi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Bebas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tambah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admin,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gudang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dan sales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tanpa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biaya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per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kepala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nn-NO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Bayar per user / per transaksi (biaya membengkak saat usaha membesar).</a:t>
                      </a:r>
                      <a:endParaRPr lang="nn-NO" sz="180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868946"/>
                  </a:ext>
                </a:extLst>
              </a:tr>
              <a:tr h="11381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Full </a:t>
                      </a:r>
                      <a:r>
                        <a:rPr lang="en-US" sz="11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Dampingan</a:t>
                      </a:r>
                      <a:r>
                        <a:rPr 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&amp; Support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Bantuan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migrasi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data master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dari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 Excel,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pelatihan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staf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, dan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pemeliharaan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rutin.</a:t>
                      </a:r>
                      <a:endParaRPr lang="en-US" sz="1800" dirty="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100" b="0" i="0" u="none" strike="noStrike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Support terbatas melalui tiket / bot dan biaya pelatihan tambahan yang mahal.</a:t>
                      </a:r>
                      <a:endParaRPr lang="en-US" sz="180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421025"/>
                  </a:ext>
                </a:extLst>
              </a:tr>
              <a:tr h="113814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Fitur Reseller &amp; Bundling </a:t>
                      </a:r>
                      <a:r>
                        <a:rPr lang="en-US" sz="1100" b="1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Bawaan</a:t>
                      </a:r>
                      <a:endParaRPr lang="en-US" sz="1800" dirty="0">
                        <a:effectLst/>
                      </a:endParaRPr>
                    </a:p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Sudah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termasuk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tanpa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perlu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beli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modul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add-on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tambahan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750"/>
                        </a:spcBef>
                        <a:spcAft>
                          <a:spcPts val="750"/>
                        </a:spcAft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Membutuhkan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integrasi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pihak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ketiga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atau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biaya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 add-on </a:t>
                      </a:r>
                      <a:r>
                        <a:rPr lang="en-US" sz="1100" b="0" i="0" u="none" strike="noStrike" dirty="0" err="1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terpisah</a:t>
                      </a:r>
                      <a:r>
                        <a:rPr lang="en-US" sz="1100" b="0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en-US" sz="1800" dirty="0">
                        <a:effectLst/>
                      </a:endParaRPr>
                    </a:p>
                  </a:txBody>
                  <a:tcPr marL="91212" marR="91212" marT="91212" marB="91212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2965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64028"/>
          </a:xfrm>
        </p:spPr>
        <p:txBody>
          <a:bodyPr>
            <a:noAutofit/>
          </a:bodyPr>
          <a:lstStyle/>
          <a:p>
            <a:r>
              <a:rPr lang="fi-FI" sz="2400" b="1" dirty="0"/>
              <a:t>Tampilan Antarmuka &amp; Kemudahan Penggunaan Reseller </a:t>
            </a:r>
            <a:endParaRPr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99DF1A-5FCC-33F5-D25F-665332D6B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133" y="1284514"/>
            <a:ext cx="4910335" cy="333216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E5A44D-F786-D08D-60AC-83EA485FD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934" y="1121229"/>
            <a:ext cx="2386630" cy="53666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Opsi</a:t>
            </a:r>
            <a:r>
              <a:rPr lang="en-US" b="1" dirty="0"/>
              <a:t> </a:t>
            </a:r>
            <a:r>
              <a:rPr lang="en-US" b="1" dirty="0" err="1"/>
              <a:t>Layanan</a:t>
            </a:r>
            <a:r>
              <a:rPr lang="en-US" b="1" dirty="0"/>
              <a:t> &amp; </a:t>
            </a:r>
            <a:r>
              <a:rPr lang="en-US" b="1" dirty="0" err="1"/>
              <a:t>Investasi</a:t>
            </a:r>
            <a:r>
              <a:rPr lang="en-US" b="1" dirty="0"/>
              <a:t> </a:t>
            </a:r>
            <a:r>
              <a:rPr lang="en-US" b="1" dirty="0" err="1"/>
              <a:t>Efisien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666" y="2263334"/>
            <a:ext cx="7704667" cy="300535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sz="2200" b="1" dirty="0"/>
          </a:p>
          <a:p>
            <a:pPr marL="0" indent="0" fontAlgn="base">
              <a:buNone/>
            </a:pPr>
            <a:r>
              <a:rPr lang="en-US" sz="2000" b="1" dirty="0"/>
              <a:t>Managed Cloud Hanya Rp 33.oo0 /Hari  (Rp 12.000.000 / </a:t>
            </a:r>
            <a:r>
              <a:rPr lang="en-US" sz="2000" b="1" dirty="0" err="1"/>
              <a:t>Tahun</a:t>
            </a:r>
            <a:r>
              <a:rPr lang="en-US" sz="2000" b="1" dirty="0"/>
              <a:t>):</a:t>
            </a:r>
            <a:endParaRPr lang="en-US" sz="2000" dirty="0"/>
          </a:p>
          <a:p>
            <a:pPr fontAlgn="base"/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termasuk</a:t>
            </a:r>
            <a:r>
              <a:rPr lang="en-US" sz="1400" dirty="0"/>
              <a:t> Cloud Server + Maintenance + Data</a:t>
            </a:r>
          </a:p>
          <a:p>
            <a:pPr fontAlgn="base"/>
            <a:r>
              <a:rPr lang="en-US" sz="1400" dirty="0"/>
              <a:t>Unlimited User, Sales, Reseller, Unlimited </a:t>
            </a:r>
            <a:r>
              <a:rPr lang="en-US" sz="1400" dirty="0" err="1"/>
              <a:t>Transaksi</a:t>
            </a:r>
            <a:r>
              <a:rPr lang="en-US" sz="1400" dirty="0"/>
              <a:t>.</a:t>
            </a:r>
          </a:p>
          <a:p>
            <a:pPr fontAlgn="base"/>
            <a:r>
              <a:rPr lang="en-US" sz="1400" dirty="0"/>
              <a:t>Bantuan </a:t>
            </a:r>
            <a:r>
              <a:rPr lang="en-US" sz="1400" dirty="0" err="1"/>
              <a:t>migrasi</a:t>
            </a:r>
            <a:r>
              <a:rPr lang="en-US" sz="1400" dirty="0"/>
              <a:t> data </a:t>
            </a:r>
            <a:r>
              <a:rPr lang="en-US" sz="1400" dirty="0" err="1"/>
              <a:t>awal</a:t>
            </a:r>
            <a:r>
              <a:rPr lang="en-US" sz="1400" dirty="0"/>
              <a:t> &amp; </a:t>
            </a:r>
            <a:r>
              <a:rPr lang="en-US" sz="1400" dirty="0" err="1"/>
              <a:t>pelatihan</a:t>
            </a:r>
            <a:r>
              <a:rPr lang="en-US" sz="1400" dirty="0"/>
              <a:t> </a:t>
            </a:r>
            <a:r>
              <a:rPr lang="en-US" sz="1400" dirty="0" err="1"/>
              <a:t>tim</a:t>
            </a:r>
            <a:r>
              <a:rPr lang="en-US" sz="1400" dirty="0"/>
              <a:t> </a:t>
            </a:r>
            <a:r>
              <a:rPr lang="en-US" sz="1400" dirty="0" err="1"/>
              <a:t>operasional</a:t>
            </a:r>
            <a:r>
              <a:rPr lang="en-US" sz="1400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5711-474A-C5D3-5219-3B385E1F4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F1E3F-0AB4-898D-98EA-9C07D033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5400" b="1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3BE87-5DFF-2A5F-E729-39A121B66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2198914"/>
            <a:ext cx="4189791" cy="3332816"/>
          </a:xfrm>
        </p:spPr>
        <p:txBody>
          <a:bodyPr>
            <a:normAutofit/>
          </a:bodyPr>
          <a:lstStyle/>
          <a:p>
            <a:r>
              <a:rPr lang="en-US" sz="1600" b="1" dirty="0" err="1"/>
              <a:t>SBiZ</a:t>
            </a:r>
            <a:r>
              <a:rPr lang="en-US" sz="1600" b="1" dirty="0"/>
              <a:t> Application:</a:t>
            </a:r>
            <a:r>
              <a:rPr lang="en-US" sz="1600" dirty="0"/>
              <a:t> </a:t>
            </a:r>
            <a:r>
              <a:rPr lang="en-US" sz="1600" dirty="0" err="1"/>
              <a:t>Investasi</a:t>
            </a:r>
            <a:r>
              <a:rPr lang="en-US" sz="1600" dirty="0"/>
              <a:t> </a:t>
            </a:r>
            <a:r>
              <a:rPr lang="en-US" sz="1600" dirty="0" err="1"/>
              <a:t>terbaik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mengubah</a:t>
            </a:r>
            <a:r>
              <a:rPr lang="en-US" sz="1600" dirty="0"/>
              <a:t> </a:t>
            </a:r>
            <a:r>
              <a:rPr lang="en-US" sz="1600" dirty="0" err="1"/>
              <a:t>operasional</a:t>
            </a:r>
            <a:r>
              <a:rPr lang="en-US" sz="1600" dirty="0"/>
              <a:t> manual yang </a:t>
            </a:r>
            <a:r>
              <a:rPr lang="en-US" sz="1600" dirty="0" err="1"/>
              <a:t>rumit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</a:t>
            </a:r>
            <a:r>
              <a:rPr lang="en-US" sz="1600" dirty="0" err="1"/>
              <a:t>otomatis</a:t>
            </a:r>
            <a:r>
              <a:rPr lang="en-US" sz="1600" dirty="0"/>
              <a:t>, </a:t>
            </a:r>
            <a:r>
              <a:rPr lang="en-US" sz="1600" dirty="0" err="1"/>
              <a:t>rapi</a:t>
            </a:r>
            <a:r>
              <a:rPr lang="en-US" sz="1600" dirty="0"/>
              <a:t>, dan </a:t>
            </a:r>
            <a:r>
              <a:rPr lang="en-US" sz="1600" dirty="0" err="1"/>
              <a:t>menguntungkan</a:t>
            </a:r>
            <a:r>
              <a:rPr lang="en-US" sz="1600" dirty="0"/>
              <a:t>.</a:t>
            </a:r>
          </a:p>
          <a:p>
            <a:r>
              <a:rPr lang="en-US" sz="1600" b="1" dirty="0"/>
              <a:t>Akses Demo </a:t>
            </a:r>
            <a:r>
              <a:rPr lang="en-US" sz="1600" b="1" dirty="0" err="1"/>
              <a:t>Aplikasi</a:t>
            </a:r>
            <a:r>
              <a:rPr lang="en-US" sz="1600" b="1" dirty="0"/>
              <a:t>:</a:t>
            </a:r>
            <a:r>
              <a:rPr lang="en-US" sz="1600" dirty="0"/>
              <a:t>  </a:t>
            </a:r>
            <a:r>
              <a:rPr lang="en-US" sz="1600" dirty="0">
                <a:hlinkClick r:id="rId2"/>
              </a:rPr>
              <a:t>https://app.sbiz-app.my.id</a:t>
            </a:r>
            <a:endParaRPr lang="en-US" sz="1600" dirty="0"/>
          </a:p>
          <a:p>
            <a:r>
              <a:rPr lang="en-US" sz="1600" b="1" dirty="0"/>
              <a:t>User Demo:</a:t>
            </a:r>
            <a:r>
              <a:rPr lang="en-US" sz="1600" dirty="0"/>
              <a:t> admin | </a:t>
            </a:r>
            <a:r>
              <a:rPr lang="en-US" sz="1600" b="1" dirty="0"/>
              <a:t>Password:</a:t>
            </a:r>
            <a:r>
              <a:rPr lang="en-US" sz="1600" dirty="0"/>
              <a:t> 1234</a:t>
            </a:r>
          </a:p>
          <a:p>
            <a:r>
              <a:rPr lang="en-US" sz="1600" b="1" dirty="0" err="1"/>
              <a:t>Hubungi</a:t>
            </a:r>
            <a:r>
              <a:rPr lang="en-US" sz="1600" b="1" dirty="0"/>
              <a:t> Kami </a:t>
            </a:r>
            <a:r>
              <a:rPr lang="en-US" sz="1600" b="1" dirty="0" err="1"/>
              <a:t>Sekarang</a:t>
            </a:r>
            <a:r>
              <a:rPr lang="en-US" sz="1600" b="1" dirty="0"/>
              <a:t> </a:t>
            </a:r>
            <a:r>
              <a:rPr lang="en-US" sz="1600" b="1" dirty="0" err="1"/>
              <a:t>untuk</a:t>
            </a:r>
            <a:r>
              <a:rPr lang="en-US" sz="1600" b="1" dirty="0"/>
              <a:t> </a:t>
            </a:r>
            <a:r>
              <a:rPr lang="en-US" sz="1600" b="1" dirty="0" err="1"/>
              <a:t>Konsultasi</a:t>
            </a:r>
            <a:r>
              <a:rPr lang="en-US" sz="1600" b="1" dirty="0"/>
              <a:t> &amp; Demo Gratis!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ADB36-03DA-517F-7912-8F8DA96E9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011" y="2573075"/>
            <a:ext cx="3924166" cy="160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31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3320-1AFC-9E7B-4C28-9C5C839B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A67F-CC4E-BCA7-E099-57E87203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18456"/>
          </a:xfrm>
        </p:spPr>
        <p:txBody>
          <a:bodyPr/>
          <a:lstStyle/>
          <a:p>
            <a:r>
              <a:rPr lang="en-US" dirty="0"/>
              <a:t>All Screen </a:t>
            </a:r>
            <a:r>
              <a:rPr lang="en-US" dirty="0" err="1"/>
              <a:t>SBiZ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0A3F3-A012-4455-3567-890440E55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990" y="1583871"/>
            <a:ext cx="7704667" cy="381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hlinkClick r:id="rId2"/>
              </a:rPr>
              <a:t>Screenshoot</a:t>
            </a:r>
            <a:r>
              <a:rPr lang="en-US" dirty="0">
                <a:hlinkClick r:id="rId2"/>
              </a:rPr>
              <a:t> Application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E4F4D-DA44-4224-6F8B-EC69AFFDB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90" y="2144486"/>
            <a:ext cx="7511143" cy="38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563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EA5F-3900-D7B2-315C-7A6CDFD9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5ABE-90EF-877F-C76F-D41DA452D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64028"/>
          </a:xfrm>
        </p:spPr>
        <p:txBody>
          <a:bodyPr>
            <a:normAutofit fontScale="90000"/>
          </a:bodyPr>
          <a:lstStyle/>
          <a:p>
            <a:r>
              <a:rPr lang="en-US" dirty="0"/>
              <a:t>All Screen </a:t>
            </a:r>
            <a:r>
              <a:rPr lang="en-US" dirty="0" err="1"/>
              <a:t>SBiZ</a:t>
            </a:r>
            <a:r>
              <a:rPr lang="en-US" dirty="0"/>
              <a:t> Reseller</a:t>
            </a:r>
            <a:endParaRPr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F239988-8F22-D847-732B-B8ADBC2ED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6789" y="1583871"/>
            <a:ext cx="7704667" cy="381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hlinkClick r:id="rId2"/>
              </a:rPr>
              <a:t>Screenshoot</a:t>
            </a:r>
            <a:r>
              <a:rPr lang="en-US" dirty="0">
                <a:hlinkClick r:id="rId2"/>
              </a:rPr>
              <a:t> Application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EBAC81-F27D-AAC0-D2A9-75FC4EAEB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789" y="2157581"/>
            <a:ext cx="5962953" cy="391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48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473</TotalTime>
  <Words>640</Words>
  <Application>Microsoft Office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SBiZ Application</vt:lpstr>
      <vt:lpstr>Realitas &amp; Masalah Usaha(The Pain Points)</vt:lpstr>
      <vt:lpstr> Solusi Terpadu SBiZ Application</vt:lpstr>
      <vt:lpstr>Ekosistem Fitur Unggulan SBiZ</vt:lpstr>
      <vt:lpstr>Tampilan Antarmuka &amp; Kemudahan Penggunaan</vt:lpstr>
      <vt:lpstr>Tampilan Antarmuka &amp; Kemudahan Penggunaan</vt:lpstr>
      <vt:lpstr>Area Reseller  Perluas Jangkauan Penjualan Tanpa Batas</vt:lpstr>
      <vt:lpstr> Mengapa Memilih SBiZ dibanding  Software Lain? (Daya Saing)</vt:lpstr>
      <vt:lpstr>Tampilan Antarmuka &amp; Kemudahan Penggunaan Reseller </vt:lpstr>
      <vt:lpstr>Opsi Layanan &amp; Investasi Efisien</vt:lpstr>
      <vt:lpstr>Kesimpulan</vt:lpstr>
      <vt:lpstr>All Screen SBiZ</vt:lpstr>
      <vt:lpstr>All Screen SBiZ Reseller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Dendie</dc:creator>
  <cp:keywords/>
  <dc:description>generated using python-pptx</dc:description>
  <cp:lastModifiedBy>PT Praisindo Teknologi</cp:lastModifiedBy>
  <cp:revision>102</cp:revision>
  <dcterms:created xsi:type="dcterms:W3CDTF">2013-01-27T09:14:16Z</dcterms:created>
  <dcterms:modified xsi:type="dcterms:W3CDTF">2026-09-09T02:20:55Z</dcterms:modified>
  <cp:category/>
</cp:coreProperties>
</file>